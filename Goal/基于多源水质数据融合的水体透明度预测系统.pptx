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0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6"/>
    <a:srgbClr val="0F30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4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33.xml"/><Relationship Id="rId36" Type="http://schemas.openxmlformats.org/officeDocument/2006/relationships/tags" Target="../tags/tag32.xml"/><Relationship Id="rId35" Type="http://schemas.openxmlformats.org/officeDocument/2006/relationships/tags" Target="../tags/tag31.xml"/><Relationship Id="rId34" Type="http://schemas.openxmlformats.org/officeDocument/2006/relationships/tags" Target="../tags/tag30.xml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image" Target="../media/image5.png"/><Relationship Id="rId29" Type="http://schemas.openxmlformats.org/officeDocument/2006/relationships/tags" Target="../tags/tag25.xml"/><Relationship Id="rId28" Type="http://schemas.openxmlformats.org/officeDocument/2006/relationships/image" Target="../media/image2.png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4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P1-</a:t>
            </a:r>
            <a:r>
              <a:rPr lang="zh-CN" altLang="en-US">
                <a:sym typeface="+mn-ea"/>
              </a:rPr>
              <a:t>登录</a:t>
            </a:r>
            <a:r>
              <a:rPr lang="zh-CN" altLang="en-US">
                <a:sym typeface="+mn-ea"/>
              </a:rPr>
              <a:t>页面：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75585" y="707390"/>
            <a:ext cx="56876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75585" y="1245235"/>
            <a:ext cx="5687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测试账号：</a:t>
            </a:r>
            <a:r>
              <a:rPr lang="en-US" altLang="zh-CN" sz="1200"/>
              <a:t>2510709</a:t>
            </a:r>
            <a:r>
              <a:rPr lang="zh-CN" altLang="en-US" sz="1200"/>
              <a:t>，密码：</a:t>
            </a:r>
            <a:r>
              <a:rPr lang="en-US" altLang="zh-CN" sz="1200"/>
              <a:t>AI4S666</a:t>
            </a:r>
            <a:endParaRPr lang="en-US" altLang="zh-CN" sz="12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0" y="1690370"/>
            <a:ext cx="6095365" cy="18027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85" y="3548380"/>
            <a:ext cx="5687060" cy="23374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775585" y="6015990"/>
            <a:ext cx="56876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P2-</a:t>
            </a:r>
            <a:r>
              <a:rPr lang="zh-CN" altLang="en-US">
                <a:sym typeface="+mn-ea"/>
              </a:rPr>
              <a:t>主功能页面之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首页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7020" y="756285"/>
            <a:ext cx="7782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43375" y="1246505"/>
            <a:ext cx="77419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水质综合数据库</a:t>
            </a:r>
            <a:r>
              <a:rPr lang="zh-CN" altLang="en-US" sz="1000"/>
              <a:t>查询；数据预处理与可视化；水体透明度预测；水体透明度致因诊断</a:t>
            </a:r>
            <a:endParaRPr lang="zh-CN" altLang="en-US" sz="1000"/>
          </a:p>
        </p:txBody>
      </p:sp>
      <p:sp>
        <p:nvSpPr>
          <p:cNvPr id="11" name="文本框 10"/>
          <p:cNvSpPr txBox="1"/>
          <p:nvPr/>
        </p:nvSpPr>
        <p:spPr>
          <a:xfrm>
            <a:off x="4097020" y="6400165"/>
            <a:ext cx="7788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6995"/>
          <a:stretch>
            <a:fillRect/>
          </a:stretch>
        </p:blipFill>
        <p:spPr>
          <a:xfrm>
            <a:off x="2350135" y="756285"/>
            <a:ext cx="1504950" cy="5633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0135" y="756285"/>
            <a:ext cx="179260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系统菜单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</a:rPr>
              <a:t>首页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</a:rPr>
              <a:t>水质综合数据库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</a:rPr>
              <a:t>数据上传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</a:rPr>
              <a:t>数据预处理与可视化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</a:rPr>
              <a:t>透明度预测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</a:rPr>
              <a:t>透明度致因诊断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" y="3149600"/>
            <a:ext cx="2077720" cy="2085975"/>
          </a:xfrm>
          <a:prstGeom prst="rect">
            <a:avLst/>
          </a:prstGeom>
        </p:spPr>
      </p:pic>
      <p:cxnSp>
        <p:nvCxnSpPr>
          <p:cNvPr id="5" name="曲线连接符 4"/>
          <p:cNvCxnSpPr>
            <a:endCxn id="4" idx="0"/>
          </p:cNvCxnSpPr>
          <p:nvPr/>
        </p:nvCxnSpPr>
        <p:spPr>
          <a:xfrm rot="5400000">
            <a:off x="923290" y="2064385"/>
            <a:ext cx="1378585" cy="790575"/>
          </a:xfrm>
          <a:prstGeom prst="curved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9245" y="1770380"/>
            <a:ext cx="10820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可参考下述系统菜单栏的设置</a:t>
            </a:r>
            <a:r>
              <a:rPr lang="zh-CN" altLang="en-US" b="1"/>
              <a:t>排列</a:t>
            </a:r>
            <a:endParaRPr lang="zh-CN" altLang="en-US" b="1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535" y="1576070"/>
            <a:ext cx="7985760" cy="5524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065270" y="1642110"/>
            <a:ext cx="776605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本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系统提供上海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市水质综合数据库查询、水质监测数据上传与预处理、数据可视化展示、水体透明度预测及关键致因分析等功能，为水环境监测与水质评价提供技术支持。</a:t>
            </a:r>
            <a:endParaRPr lang="zh-CN" altLang="en-US" sz="1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65270" y="2200275"/>
            <a:ext cx="7975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功能入口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24" name="组合 23"/>
          <p:cNvGrpSpPr/>
          <p:nvPr>
            <p:custDataLst>
              <p:tags r:id="rId4"/>
            </p:custDataLst>
          </p:nvPr>
        </p:nvGrpSpPr>
        <p:grpSpPr>
          <a:xfrm>
            <a:off x="4142740" y="2494915"/>
            <a:ext cx="1403985" cy="1155700"/>
            <a:chOff x="6513" y="3998"/>
            <a:chExt cx="2211" cy="1820"/>
          </a:xfrm>
        </p:grpSpPr>
        <p:sp>
          <p:nvSpPr>
            <p:cNvPr id="18" name="圆角矩形 17"/>
            <p:cNvSpPr/>
            <p:nvPr>
              <p:custDataLst>
                <p:tags r:id="rId5"/>
              </p:custDataLst>
            </p:nvPr>
          </p:nvSpPr>
          <p:spPr>
            <a:xfrm>
              <a:off x="6513" y="3998"/>
              <a:ext cx="2083" cy="1820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6"/>
              </p:custDataLst>
            </p:nvPr>
          </p:nvSpPr>
          <p:spPr>
            <a:xfrm>
              <a:off x="6931" y="5357"/>
              <a:ext cx="1256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进入查询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  <p:sp>
          <p:nvSpPr>
            <p:cNvPr id="21" name="圆角矩形 20"/>
            <p:cNvSpPr/>
            <p:nvPr>
              <p:custDataLst>
                <p:tags r:id="rId7"/>
              </p:custDataLst>
            </p:nvPr>
          </p:nvSpPr>
          <p:spPr>
            <a:xfrm>
              <a:off x="6975" y="5351"/>
              <a:ext cx="1212" cy="397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6564" y="4063"/>
              <a:ext cx="1539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数据库查询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9"/>
              </p:custDataLst>
            </p:nvPr>
          </p:nvSpPr>
          <p:spPr>
            <a:xfrm>
              <a:off x="6543" y="4310"/>
              <a:ext cx="2181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查询上海市重点监测站点水质数据，支持多指标检索与数据导出。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0"/>
            </p:custDataLst>
          </p:nvPr>
        </p:nvGrpSpPr>
        <p:grpSpPr>
          <a:xfrm>
            <a:off x="5744845" y="2479040"/>
            <a:ext cx="1414145" cy="1147445"/>
            <a:chOff x="6480" y="3998"/>
            <a:chExt cx="2227" cy="1807"/>
          </a:xfrm>
        </p:grpSpPr>
        <p:sp>
          <p:nvSpPr>
            <p:cNvPr id="26" name="圆角矩形 25"/>
            <p:cNvSpPr/>
            <p:nvPr>
              <p:custDataLst>
                <p:tags r:id="rId11"/>
              </p:custDataLst>
            </p:nvPr>
          </p:nvSpPr>
          <p:spPr>
            <a:xfrm>
              <a:off x="6513" y="3998"/>
              <a:ext cx="2083" cy="1807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6854" y="5346"/>
              <a:ext cx="1368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进入</a:t>
              </a:r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上传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  <p:sp>
          <p:nvSpPr>
            <p:cNvPr id="28" name="圆角矩形 27"/>
            <p:cNvSpPr/>
            <p:nvPr>
              <p:custDataLst>
                <p:tags r:id="rId13"/>
              </p:custDataLst>
            </p:nvPr>
          </p:nvSpPr>
          <p:spPr>
            <a:xfrm>
              <a:off x="6948" y="5371"/>
              <a:ext cx="1212" cy="397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6564" y="4063"/>
              <a:ext cx="1539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数据</a:t>
              </a:r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上传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6480" y="4334"/>
              <a:ext cx="2227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上传水质监测数据文件，支持 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Excel 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与 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CSV 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格式数据导入。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6"/>
            </p:custDataLst>
          </p:nvPr>
        </p:nvGrpSpPr>
        <p:grpSpPr>
          <a:xfrm>
            <a:off x="7418705" y="2479040"/>
            <a:ext cx="1348105" cy="1136015"/>
            <a:chOff x="6513" y="3998"/>
            <a:chExt cx="2123" cy="1789"/>
          </a:xfrm>
        </p:grpSpPr>
        <p:sp>
          <p:nvSpPr>
            <p:cNvPr id="32" name="圆角矩形 31"/>
            <p:cNvSpPr/>
            <p:nvPr>
              <p:custDataLst>
                <p:tags r:id="rId17"/>
              </p:custDataLst>
            </p:nvPr>
          </p:nvSpPr>
          <p:spPr>
            <a:xfrm>
              <a:off x="6513" y="3998"/>
              <a:ext cx="2083" cy="1789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>
              <p:custDataLst>
                <p:tags r:id="rId18"/>
              </p:custDataLst>
            </p:nvPr>
          </p:nvSpPr>
          <p:spPr>
            <a:xfrm>
              <a:off x="6846" y="5264"/>
              <a:ext cx="1493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进入</a:t>
              </a:r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预处理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19"/>
              </p:custDataLst>
            </p:nvPr>
          </p:nvSpPr>
          <p:spPr>
            <a:xfrm>
              <a:off x="6948" y="5264"/>
              <a:ext cx="1212" cy="397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20"/>
              </p:custDataLst>
            </p:nvPr>
          </p:nvSpPr>
          <p:spPr>
            <a:xfrm>
              <a:off x="6564" y="4063"/>
              <a:ext cx="1855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数据</a:t>
              </a:r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预处理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21"/>
              </p:custDataLst>
            </p:nvPr>
          </p:nvSpPr>
          <p:spPr>
            <a:xfrm>
              <a:off x="6513" y="4325"/>
              <a:ext cx="2123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实现缺失值处理、异常值检测及数据标准化等预处理功能。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2"/>
            </p:custDataLst>
          </p:nvPr>
        </p:nvGrpSpPr>
        <p:grpSpPr>
          <a:xfrm>
            <a:off x="10481945" y="2426970"/>
            <a:ext cx="1343025" cy="1188085"/>
            <a:chOff x="6513" y="3998"/>
            <a:chExt cx="2115" cy="1871"/>
          </a:xfrm>
        </p:grpSpPr>
        <p:sp>
          <p:nvSpPr>
            <p:cNvPr id="38" name="圆角矩形 37"/>
            <p:cNvSpPr/>
            <p:nvPr>
              <p:custDataLst>
                <p:tags r:id="rId23"/>
              </p:custDataLst>
            </p:nvPr>
          </p:nvSpPr>
          <p:spPr>
            <a:xfrm>
              <a:off x="6513" y="3998"/>
              <a:ext cx="2083" cy="1871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>
              <p:custDataLst>
                <p:tags r:id="rId24"/>
              </p:custDataLst>
            </p:nvPr>
          </p:nvSpPr>
          <p:spPr>
            <a:xfrm>
              <a:off x="6931" y="5417"/>
              <a:ext cx="1256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进入</a:t>
              </a:r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预测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  <p:sp>
          <p:nvSpPr>
            <p:cNvPr id="40" name="圆角矩形 39"/>
            <p:cNvSpPr/>
            <p:nvPr>
              <p:custDataLst>
                <p:tags r:id="rId25"/>
              </p:custDataLst>
            </p:nvPr>
          </p:nvSpPr>
          <p:spPr>
            <a:xfrm>
              <a:off x="6975" y="5417"/>
              <a:ext cx="1212" cy="397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>
              <p:custDataLst>
                <p:tags r:id="rId26"/>
              </p:custDataLst>
            </p:nvPr>
          </p:nvSpPr>
          <p:spPr>
            <a:xfrm>
              <a:off x="6564" y="4063"/>
              <a:ext cx="1993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透明度预测与</a:t>
              </a:r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致因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27"/>
              </p:custDataLst>
            </p:nvPr>
          </p:nvSpPr>
          <p:spPr>
            <a:xfrm>
              <a:off x="6530" y="4342"/>
              <a:ext cx="209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基于多模态融合模型（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MSCIM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）实现透明度预测与关键影响因素识别。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97350" y="4591050"/>
            <a:ext cx="7672070" cy="177419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4135755" y="3719830"/>
            <a:ext cx="7975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数据概览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53" name="组合 52"/>
          <p:cNvGrpSpPr/>
          <p:nvPr>
            <p:custDataLst>
              <p:tags r:id="rId29"/>
            </p:custDataLst>
          </p:nvPr>
        </p:nvGrpSpPr>
        <p:grpSpPr>
          <a:xfrm>
            <a:off x="9004300" y="2453640"/>
            <a:ext cx="1348105" cy="1178560"/>
            <a:chOff x="6513" y="3998"/>
            <a:chExt cx="2123" cy="1856"/>
          </a:xfrm>
        </p:grpSpPr>
        <p:sp>
          <p:nvSpPr>
            <p:cNvPr id="54" name="圆角矩形 53"/>
            <p:cNvSpPr/>
            <p:nvPr>
              <p:custDataLst>
                <p:tags r:id="rId30"/>
              </p:custDataLst>
            </p:nvPr>
          </p:nvSpPr>
          <p:spPr>
            <a:xfrm>
              <a:off x="6513" y="3998"/>
              <a:ext cx="2083" cy="1856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>
              <p:custDataLst>
                <p:tags r:id="rId31"/>
              </p:custDataLst>
            </p:nvPr>
          </p:nvSpPr>
          <p:spPr>
            <a:xfrm>
              <a:off x="6773" y="5276"/>
              <a:ext cx="1602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进入</a:t>
              </a:r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可视化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32"/>
              </p:custDataLst>
            </p:nvPr>
          </p:nvSpPr>
          <p:spPr>
            <a:xfrm>
              <a:off x="6948" y="5298"/>
              <a:ext cx="1212" cy="397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>
              <p:custDataLst>
                <p:tags r:id="rId33"/>
              </p:custDataLst>
            </p:nvPr>
          </p:nvSpPr>
          <p:spPr>
            <a:xfrm>
              <a:off x="6564" y="4063"/>
              <a:ext cx="1855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数据可视化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34"/>
              </p:custDataLst>
            </p:nvPr>
          </p:nvSpPr>
          <p:spPr>
            <a:xfrm>
              <a:off x="6513" y="4342"/>
              <a:ext cx="2123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对监测数据进行统计分析与图形化展示，辅助数据解读。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</p:grpSp>
      <p:sp>
        <p:nvSpPr>
          <p:cNvPr id="59" name="圆角矩形 58"/>
          <p:cNvSpPr/>
          <p:nvPr>
            <p:custDataLst>
              <p:tags r:id="rId35"/>
            </p:custDataLst>
          </p:nvPr>
        </p:nvSpPr>
        <p:spPr>
          <a:xfrm>
            <a:off x="4269740" y="4007485"/>
            <a:ext cx="2077720" cy="509270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圆角矩形 59"/>
          <p:cNvSpPr/>
          <p:nvPr>
            <p:custDataLst>
              <p:tags r:id="rId36"/>
            </p:custDataLst>
          </p:nvPr>
        </p:nvSpPr>
        <p:spPr>
          <a:xfrm>
            <a:off x="6619240" y="4007485"/>
            <a:ext cx="2077720" cy="509270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>
            <p:custDataLst>
              <p:tags r:id="rId37"/>
            </p:custDataLst>
          </p:nvPr>
        </p:nvSpPr>
        <p:spPr>
          <a:xfrm>
            <a:off x="9004300" y="3995420"/>
            <a:ext cx="2077720" cy="509270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269740" y="3998595"/>
            <a:ext cx="127698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累计水质监测数据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</a:rPr>
              <a:t>XXXX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条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698615" y="3995420"/>
            <a:ext cx="127698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累计覆盖监测站点</a:t>
            </a:r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</a:rPr>
              <a:t>XXXX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个</a:t>
            </a: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重点站点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036685" y="4007485"/>
            <a:ext cx="3740150" cy="497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系统功能模块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</a:rPr>
              <a:t>5个核心功能模块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P3-</a:t>
            </a:r>
            <a:r>
              <a:rPr lang="zh-CN" altLang="en-US">
                <a:sym typeface="+mn-ea"/>
              </a:rPr>
              <a:t>主功能页面之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数据库查询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7020" y="710565"/>
            <a:ext cx="7782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97020" y="6400165"/>
            <a:ext cx="7788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6995"/>
          <a:stretch>
            <a:fillRect/>
          </a:stretch>
        </p:blipFill>
        <p:spPr>
          <a:xfrm>
            <a:off x="2350135" y="756285"/>
            <a:ext cx="1504950" cy="5633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0135" y="756285"/>
            <a:ext cx="179260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系统菜单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首页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数据库查询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数据上传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数据预处理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数据可视化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透明度预测与致因诊断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0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" y="3149600"/>
            <a:ext cx="2077720" cy="2085975"/>
          </a:xfrm>
          <a:prstGeom prst="rect">
            <a:avLst/>
          </a:prstGeom>
        </p:spPr>
      </p:pic>
      <p:cxnSp>
        <p:nvCxnSpPr>
          <p:cNvPr id="5" name="曲线连接符 4"/>
          <p:cNvCxnSpPr>
            <a:endCxn id="4" idx="0"/>
          </p:cNvCxnSpPr>
          <p:nvPr/>
        </p:nvCxnSpPr>
        <p:spPr>
          <a:xfrm rot="5400000">
            <a:off x="923290" y="2064385"/>
            <a:ext cx="1378585" cy="790575"/>
          </a:xfrm>
          <a:prstGeom prst="curved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9245" y="1770380"/>
            <a:ext cx="10820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可参考下述系统菜单栏的设置</a:t>
            </a:r>
            <a:r>
              <a:rPr lang="zh-CN" altLang="en-US" b="1"/>
              <a:t>排列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6414135" y="1157605"/>
            <a:ext cx="3175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水质综合数据库查询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645" y="1573530"/>
            <a:ext cx="7270750" cy="4552950"/>
          </a:xfrm>
          <a:prstGeom prst="rect">
            <a:avLst/>
          </a:prstGeom>
        </p:spPr>
      </p:pic>
      <p:cxnSp>
        <p:nvCxnSpPr>
          <p:cNvPr id="14" name="曲线连接符 13"/>
          <p:cNvCxnSpPr/>
          <p:nvPr/>
        </p:nvCxnSpPr>
        <p:spPr>
          <a:xfrm flipV="1">
            <a:off x="10234930" y="1047750"/>
            <a:ext cx="696595" cy="454660"/>
          </a:xfrm>
          <a:prstGeom prst="curvedConnector3">
            <a:avLst>
              <a:gd name="adj1" fmla="val 5004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1080750" y="169545"/>
            <a:ext cx="11112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参考小沈做的可视化平台，</a:t>
            </a:r>
            <a:r>
              <a:rPr lang="zh-CN" altLang="en-US"/>
              <a:t>他有发在群里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P4-</a:t>
            </a:r>
            <a:r>
              <a:rPr lang="zh-CN" altLang="en-US">
                <a:sym typeface="+mn-ea"/>
              </a:rPr>
              <a:t>主功能页面之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数据上传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7020" y="756285"/>
            <a:ext cx="7782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91305" y="6102985"/>
            <a:ext cx="7788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6995"/>
          <a:stretch>
            <a:fillRect/>
          </a:stretch>
        </p:blipFill>
        <p:spPr>
          <a:xfrm>
            <a:off x="2350135" y="756285"/>
            <a:ext cx="1504950" cy="5633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0135" y="756285"/>
            <a:ext cx="179260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系统菜单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首页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数据库查询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数据上传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数据预处理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数据可视化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透明度预测与致因诊断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0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" y="3149600"/>
            <a:ext cx="2077720" cy="2085975"/>
          </a:xfrm>
          <a:prstGeom prst="rect">
            <a:avLst/>
          </a:prstGeom>
        </p:spPr>
      </p:pic>
      <p:cxnSp>
        <p:nvCxnSpPr>
          <p:cNvPr id="5" name="曲线连接符 4"/>
          <p:cNvCxnSpPr>
            <a:endCxn id="4" idx="0"/>
          </p:cNvCxnSpPr>
          <p:nvPr/>
        </p:nvCxnSpPr>
        <p:spPr>
          <a:xfrm rot="5400000">
            <a:off x="923290" y="2064385"/>
            <a:ext cx="1378585" cy="790575"/>
          </a:xfrm>
          <a:prstGeom prst="curved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9245" y="1770380"/>
            <a:ext cx="10820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可参考下述系统菜单栏的设置</a:t>
            </a:r>
            <a:r>
              <a:rPr lang="zh-CN" altLang="en-US" b="1"/>
              <a:t>排列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6414135" y="1195705"/>
            <a:ext cx="3175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多源数据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上传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140" y="1425575"/>
            <a:ext cx="7985760" cy="5524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364990" y="1573530"/>
            <a:ext cx="7766050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支持上传 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</a:rPr>
              <a:t>Excel（.xlsx）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和 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</a:rPr>
              <a:t>CSV（.csv）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格式的水质监测数据文件，系统将自动识别 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</a:rPr>
              <a:t>PH、DO、TN、TP、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浊度等指标并进行预处理。</a:t>
            </a:r>
            <a:endParaRPr lang="zh-CN" altLang="en-US" sz="10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 l="1884" b="21489"/>
          <a:stretch>
            <a:fillRect/>
          </a:stretch>
        </p:blipFill>
        <p:spPr>
          <a:xfrm>
            <a:off x="4096385" y="2146300"/>
            <a:ext cx="7985125" cy="234315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097020" y="209296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选择数据文件，可多选</a:t>
            </a:r>
            <a:endParaRPr lang="zh-CN" altLang="en-US" sz="12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97350" y="3182620"/>
            <a:ext cx="36061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保存数据文件</a:t>
            </a:r>
            <a:endParaRPr lang="zh-CN" altLang="en-US" sz="12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142605" y="3182620"/>
            <a:ext cx="36061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清空上传</a:t>
            </a:r>
            <a:r>
              <a: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目录</a:t>
            </a:r>
            <a:endParaRPr lang="zh-CN" altLang="en-US" sz="12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152900" y="424624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已上传数据文件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aphicFrame>
        <p:nvGraphicFramePr>
          <p:cNvPr id="47" name="表格 46"/>
          <p:cNvGraphicFramePr/>
          <p:nvPr/>
        </p:nvGraphicFramePr>
        <p:xfrm>
          <a:off x="4196715" y="4587240"/>
          <a:ext cx="763714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86"/>
                <a:gridCol w="1909287"/>
                <a:gridCol w="1909286"/>
                <a:gridCol w="1909286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文件名称</a:t>
                      </a:r>
                      <a:endParaRPr lang="zh-CN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rgbClr val="F0F2F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数据类型</a:t>
                      </a:r>
                      <a:endParaRPr lang="zh-CN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rgbClr val="F0F2F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上传时间</a:t>
                      </a:r>
                      <a:endParaRPr lang="zh-CN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rgbClr val="F0F2F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上传状态</a:t>
                      </a:r>
                      <a:endParaRPr lang="zh-CN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water_quality_2024.xlsx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水质监测数据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2026-03-15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已上传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657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water_quality_2024.xlsx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水质监测数据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2026-03-15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已上传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P5-</a:t>
            </a:r>
            <a:r>
              <a:rPr lang="zh-CN" altLang="en-US">
                <a:sym typeface="+mn-ea"/>
              </a:rPr>
              <a:t>主功能页面之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数据预处理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7020" y="756285"/>
            <a:ext cx="7782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97020" y="6400165"/>
            <a:ext cx="7788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6995"/>
          <a:stretch>
            <a:fillRect/>
          </a:stretch>
        </p:blipFill>
        <p:spPr>
          <a:xfrm>
            <a:off x="2350135" y="756285"/>
            <a:ext cx="1504950" cy="5633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0135" y="756285"/>
            <a:ext cx="179260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系统菜单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首页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数据库查询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数据上传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数据预处理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数据可视化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透明度预测与致因诊断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0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" y="3149600"/>
            <a:ext cx="2077720" cy="2085975"/>
          </a:xfrm>
          <a:prstGeom prst="rect">
            <a:avLst/>
          </a:prstGeom>
        </p:spPr>
      </p:pic>
      <p:cxnSp>
        <p:nvCxnSpPr>
          <p:cNvPr id="5" name="曲线连接符 4"/>
          <p:cNvCxnSpPr>
            <a:endCxn id="4" idx="0"/>
          </p:cNvCxnSpPr>
          <p:nvPr/>
        </p:nvCxnSpPr>
        <p:spPr>
          <a:xfrm rot="5400000">
            <a:off x="923290" y="2064385"/>
            <a:ext cx="1378585" cy="790575"/>
          </a:xfrm>
          <a:prstGeom prst="curved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9245" y="1770380"/>
            <a:ext cx="10820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可参考下述系统菜单栏的设置</a:t>
            </a:r>
            <a:r>
              <a:rPr lang="zh-CN" altLang="en-US" b="1"/>
              <a:t>排列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6414135" y="1195705"/>
            <a:ext cx="3175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数据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预处理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140" y="1448435"/>
            <a:ext cx="7985760" cy="5524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97350" y="1602105"/>
            <a:ext cx="75330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本模块提供缺失值处理、异常值检测、数据标准化及特征筛选等预处理功能，为后续透明度预测模型提供高质量输入数据。</a:t>
            </a:r>
            <a:endParaRPr lang="zh-CN" altLang="en-US" sz="10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280" y="1946910"/>
            <a:ext cx="6621145" cy="445389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5795010" y="169545"/>
            <a:ext cx="68173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数据输入吴淞口，以吴淞口的数据预处理为例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截图界面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P6-</a:t>
            </a:r>
            <a:r>
              <a:rPr lang="zh-CN" altLang="en-US">
                <a:sym typeface="+mn-ea"/>
              </a:rPr>
              <a:t>主功能页面之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数据可视化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7020" y="756285"/>
            <a:ext cx="7782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97020" y="6400165"/>
            <a:ext cx="7788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6995"/>
          <a:stretch>
            <a:fillRect/>
          </a:stretch>
        </p:blipFill>
        <p:spPr>
          <a:xfrm>
            <a:off x="2350135" y="756285"/>
            <a:ext cx="1504950" cy="5633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0135" y="756285"/>
            <a:ext cx="179260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系统菜单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首页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数据库查询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数据上传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数据预处理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数据可视化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透明度预测与致因诊断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0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" y="3149600"/>
            <a:ext cx="2077720" cy="2085975"/>
          </a:xfrm>
          <a:prstGeom prst="rect">
            <a:avLst/>
          </a:prstGeom>
        </p:spPr>
      </p:pic>
      <p:cxnSp>
        <p:nvCxnSpPr>
          <p:cNvPr id="5" name="曲线连接符 4"/>
          <p:cNvCxnSpPr>
            <a:endCxn id="4" idx="0"/>
          </p:cNvCxnSpPr>
          <p:nvPr/>
        </p:nvCxnSpPr>
        <p:spPr>
          <a:xfrm rot="5400000">
            <a:off x="923290" y="2064385"/>
            <a:ext cx="1378585" cy="790575"/>
          </a:xfrm>
          <a:prstGeom prst="curved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9245" y="1770380"/>
            <a:ext cx="10820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可参考下述系统菜单栏的设置</a:t>
            </a:r>
            <a:r>
              <a:rPr lang="zh-CN" altLang="en-US" b="1"/>
              <a:t>排列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6414135" y="1195705"/>
            <a:ext cx="3175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数据可视化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140" y="1448435"/>
            <a:ext cx="7985760" cy="5524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97350" y="1556385"/>
            <a:ext cx="75330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本模块对上传的数据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文件进行多维可视化分析，支持水质指标趋势展示，空间分布分析及透明度相关性分析，为水体透明度预测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提供数据支撑。</a:t>
            </a:r>
            <a:endParaRPr lang="zh-CN" altLang="en-US" sz="10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005" y="2009140"/>
            <a:ext cx="7117080" cy="427228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5082540" y="169545"/>
            <a:ext cx="68173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数据输入吴淞口，以吴淞口的数据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可视化为例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截图界面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2730" y="1695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P7-</a:t>
            </a:r>
            <a:r>
              <a:rPr lang="zh-CN" altLang="en-US">
                <a:sym typeface="+mn-ea"/>
              </a:rPr>
              <a:t>主功能页面之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透明度预测与致因诊断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7020" y="756285"/>
            <a:ext cx="77825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基于多源水质数据融合的水体透明度预测系统</a:t>
            </a:r>
            <a:r>
              <a:rPr lang="en-US" altLang="zh-CN">
                <a:sym typeface="+mn-ea"/>
              </a:rPr>
              <a:t>V1.0</a:t>
            </a:r>
            <a:endParaRPr lang="en-US" altLang="zh-CN">
              <a:sym typeface="+mn-ea"/>
            </a:endParaRPr>
          </a:p>
          <a:p>
            <a:pPr algn="ctr"/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97020" y="6400165"/>
            <a:ext cx="7788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Calibri" panose="020F0502020204030204" charset="0"/>
                <a:cs typeface="Calibri" panose="020F0502020204030204" charset="0"/>
              </a:rPr>
              <a:t>©</a:t>
            </a:r>
            <a:r>
              <a:rPr lang="en-US" altLang="zh-CN" sz="1200"/>
              <a:t>2026</a:t>
            </a:r>
            <a:r>
              <a:rPr lang="zh-CN" altLang="en-US" sz="1200"/>
              <a:t>同济大学-环境科学与</a:t>
            </a:r>
            <a:r>
              <a:rPr lang="zh-CN" altLang="en-US" sz="1200"/>
              <a:t>工程学院</a:t>
            </a:r>
            <a:r>
              <a:rPr lang="en-US" altLang="zh-CN" sz="1200"/>
              <a:t>AI4S</a:t>
            </a:r>
            <a:r>
              <a:rPr lang="zh-CN" altLang="en-US" sz="1200"/>
              <a:t>研究团队.</a:t>
            </a:r>
            <a:r>
              <a:rPr lang="en-US" altLang="zh-CN" sz="1200"/>
              <a:t>All rights reserved.</a:t>
            </a:r>
            <a:endParaRPr lang="en-US" altLang="zh-CN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6995"/>
          <a:stretch>
            <a:fillRect/>
          </a:stretch>
        </p:blipFill>
        <p:spPr>
          <a:xfrm>
            <a:off x="2350135" y="756285"/>
            <a:ext cx="1504950" cy="5633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0135" y="756285"/>
            <a:ext cx="179260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系统菜单</a:t>
            </a:r>
            <a:endParaRPr lang="zh-CN" altLang="en-US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首页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数据库查询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数据上传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数据预处理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数据可视化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</a:rPr>
              <a:t>透明度预测与致因诊断</a:t>
            </a:r>
            <a:endParaRPr lang="zh-CN" altLang="en-US" sz="10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0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pPr indent="0" fontAlgn="auto">
              <a:lnSpc>
                <a:spcPct val="150000"/>
              </a:lnSpc>
            </a:pP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" y="3149600"/>
            <a:ext cx="2077720" cy="2085975"/>
          </a:xfrm>
          <a:prstGeom prst="rect">
            <a:avLst/>
          </a:prstGeom>
        </p:spPr>
      </p:pic>
      <p:cxnSp>
        <p:nvCxnSpPr>
          <p:cNvPr id="5" name="曲线连接符 4"/>
          <p:cNvCxnSpPr>
            <a:endCxn id="4" idx="0"/>
          </p:cNvCxnSpPr>
          <p:nvPr/>
        </p:nvCxnSpPr>
        <p:spPr>
          <a:xfrm rot="5400000">
            <a:off x="923290" y="2064385"/>
            <a:ext cx="1378585" cy="790575"/>
          </a:xfrm>
          <a:prstGeom prst="curved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9245" y="1770380"/>
            <a:ext cx="10820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可参考下述系统菜单栏的设置</a:t>
            </a:r>
            <a:r>
              <a:rPr lang="zh-CN" altLang="en-US" b="1"/>
              <a:t>排列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6414135" y="1195705"/>
            <a:ext cx="3175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透明度预测与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致因诊断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140" y="1448435"/>
            <a:ext cx="7985760" cy="5524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50995" y="1525270"/>
            <a:ext cx="76904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本模块基于多源水质数据融合（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</a:rPr>
              <a:t>MSCIM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</a:rPr>
              <a:t>）模型，实现水体透明度预测、模型性能评估及关键影响因素分析，为水环境评价提供智能决策支持。</a:t>
            </a:r>
            <a:endParaRPr lang="zh-CN" altLang="en-US" sz="10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45" y="1979295"/>
            <a:ext cx="6502400" cy="414655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5795010" y="169545"/>
            <a:ext cx="68173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数据输入吴淞口，以吴淞口的预测和致因诊断为例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截图界面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3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4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5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6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7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8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9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0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1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2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3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4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5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6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7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8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19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0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1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2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3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4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5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6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7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8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29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30.xml><?xml version="1.0" encoding="utf-8"?>
<p:tagLst xmlns:p="http://schemas.openxmlformats.org/presentationml/2006/main">
  <p:tag name="KSO_WM_DIAGRAM_VIRTUALLY_FRAME" val="{&quot;height&quot;:104.85,&quot;left&quot;:325.65,&quot;top&quot;:191.1,&quot;width&quot;:612.55}"/>
</p:tagLst>
</file>

<file path=ppt/tags/tag31.xml><?xml version="1.0" encoding="utf-8"?>
<p:tagLst xmlns:p="http://schemas.openxmlformats.org/presentationml/2006/main">
  <p:tag name="KSO_WM_DIAGRAM_VIRTUALLY_FRAME" val="{&quot;height&quot;:98.55,&quot;left&quot;:325.65,&quot;top&quot;:197.4,&quot;width&quot;:612.55}"/>
</p:tagLst>
</file>

<file path=ppt/tags/tag32.xml><?xml version="1.0" encoding="utf-8"?>
<p:tagLst xmlns:p="http://schemas.openxmlformats.org/presentationml/2006/main">
  <p:tag name="KSO_WM_DIAGRAM_VIRTUALLY_FRAME" val="{&quot;height&quot;:98.55,&quot;left&quot;:325.65,&quot;top&quot;:197.4,&quot;width&quot;:612.55}"/>
</p:tagLst>
</file>

<file path=ppt/tags/tag33.xml><?xml version="1.0" encoding="utf-8"?>
<p:tagLst xmlns:p="http://schemas.openxmlformats.org/presentationml/2006/main">
  <p:tag name="KSO_WM_DIAGRAM_VIRTUALLY_FRAME" val="{&quot;height&quot;:98.55,&quot;left&quot;:325.65,&quot;top&quot;:197.4,&quot;width&quot;:612.5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WPS 演示</Application>
  <PresentationFormat>宽屏</PresentationFormat>
  <Paragraphs>245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陈艳琦</dc:creator>
  <cp:lastModifiedBy>CYQ</cp:lastModifiedBy>
  <cp:revision>44</cp:revision>
  <dcterms:created xsi:type="dcterms:W3CDTF">2023-08-09T12:44:00Z</dcterms:created>
  <dcterms:modified xsi:type="dcterms:W3CDTF">2026-06-13T13:19:47Z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17A6D2A1F3454659A3B54A52F0A57567_12</vt:lpwstr>
  </property>
</Properties>
</file>